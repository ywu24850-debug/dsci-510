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5" r:id="rId5"/>
    <p:sldId id="266" r:id="rId6"/>
    <p:sldId id="269" r:id="rId7"/>
    <p:sldId id="268" r:id="rId8"/>
    <p:sldId id="270" r:id="rId9"/>
    <p:sldId id="262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515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2" autoAdjust="0"/>
  </p:normalViewPr>
  <p:slideViewPr>
    <p:cSldViewPr snapToGrid="0" showGuides="1">
      <p:cViewPr varScale="1">
        <p:scale>
          <a:sx n="70" d="100"/>
          <a:sy n="70" d="100"/>
        </p:scale>
        <p:origin x="536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GBDT: a classic and powerful machine learning algorithm, based on decision trees and gradient boosting.</a:t>
            </a:r>
          </a:p>
          <a:p>
            <a:r>
              <a:rPr lang="en-US" altLang="zh-CN" dirty="0"/>
              <a:t>Gradient Boosting: builds the model step-by-step to correct errors.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102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19A06C4-29D2-421B-BB53-B76077B901B3}"/>
              </a:ext>
            </a:extLst>
          </p:cNvPr>
          <p:cNvGrpSpPr/>
          <p:nvPr userDrawn="1"/>
        </p:nvGrpSpPr>
        <p:grpSpPr>
          <a:xfrm>
            <a:off x="-1" y="0"/>
            <a:ext cx="12192003" cy="6858001"/>
            <a:chOff x="-54422" y="361950"/>
            <a:chExt cx="12192003" cy="6858001"/>
          </a:xfrm>
        </p:grpSpPr>
        <p:pic>
          <p:nvPicPr>
            <p:cNvPr id="19" name="Picture 18" descr="绿色的垃圾桶&#10;&#10;低可信度描述已自动生成">
              <a:extLst>
                <a:ext uri="{FF2B5EF4-FFF2-40B4-BE49-F238E27FC236}">
                  <a16:creationId xmlns:a16="http://schemas.microsoft.com/office/drawing/2014/main" id="{BDFC6DD4-801E-4C07-A0AA-D5A1D869975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5" t="3761" r="3755" b="3761"/>
            <a:stretch/>
          </p:blipFill>
          <p:spPr>
            <a:xfrm rot="5400000">
              <a:off x="2612579" y="-2305051"/>
              <a:ext cx="6858001" cy="1219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73DD9D-53BC-40D3-BDF4-D73A27FB708A}"/>
                </a:ext>
              </a:extLst>
            </p:cNvPr>
            <p:cNvSpPr/>
            <p:nvPr userDrawn="1"/>
          </p:nvSpPr>
          <p:spPr>
            <a:xfrm>
              <a:off x="-54421" y="361950"/>
              <a:ext cx="12192000" cy="6858000"/>
            </a:xfrm>
            <a:prstGeom prst="rect">
              <a:avLst/>
            </a:prstGeom>
            <a:solidFill>
              <a:schemeClr val="bg2">
                <a:lumMod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7872" y="2336800"/>
            <a:ext cx="3690328" cy="11731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zh-CN" altLang="en-US" sz="4400" dirty="0">
                <a:solidFill>
                  <a:srgbClr val="FFFFFF"/>
                </a:solidFill>
              </a:defRPr>
            </a:lvl1pPr>
          </a:lstStyle>
          <a:p>
            <a:pPr marL="0" lvl="0"/>
            <a:r>
              <a:rPr lang="en-US" altLang="zh-CN" dirty="0"/>
              <a:t>Click to edit </a:t>
            </a:r>
            <a:br>
              <a:rPr lang="en-US" altLang="zh-CN" dirty="0"/>
            </a:b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DB65F-C302-4F35-9CCB-12FB82E25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872" y="4591572"/>
            <a:ext cx="3240168" cy="28581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zh-CN" altLang="en-US" sz="1050" dirty="0">
                <a:solidFill>
                  <a:srgbClr val="FFFFFF"/>
                </a:solidFill>
              </a:defRPr>
            </a:lvl1pPr>
          </a:lstStyle>
          <a:p>
            <a:pPr marL="0" lvl="0" indent="0" defTabSz="914332">
              <a:lnSpc>
                <a:spcPct val="150000"/>
              </a:lnSpc>
              <a:buNone/>
            </a:pPr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57360" y="6024157"/>
            <a:ext cx="2161540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6031504"/>
            <a:ext cx="5568950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OfficePLUS</a:t>
            </a:r>
            <a:endParaRPr lang="en-US" alt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F3F9F2-2DBE-4016-9D2B-F5CF4BE8EB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723900"/>
            <a:ext cx="1039091" cy="296271"/>
          </a:xfrm>
        </p:spPr>
        <p:txBody>
          <a:bodyPr vert="horz" wrap="none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LGOO 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CB3A22-0BE9-4B43-93C6-6024A4079B98}"/>
              </a:ext>
            </a:extLst>
          </p:cNvPr>
          <p:cNvSpPr/>
          <p:nvPr userDrawn="1"/>
        </p:nvSpPr>
        <p:spPr>
          <a:xfrm>
            <a:off x="-5376" y="1702485"/>
            <a:ext cx="665776" cy="6657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C1029C-F278-4F9C-A786-47A4BE2448BD}"/>
              </a:ext>
            </a:extLst>
          </p:cNvPr>
          <p:cNvSpPr/>
          <p:nvPr userDrawn="1"/>
        </p:nvSpPr>
        <p:spPr>
          <a:xfrm>
            <a:off x="11220160" y="1702485"/>
            <a:ext cx="964516" cy="96451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D3D793-BB48-441A-9198-D6ED36D6095F}"/>
              </a:ext>
            </a:extLst>
          </p:cNvPr>
          <p:cNvSpPr/>
          <p:nvPr userDrawn="1"/>
        </p:nvSpPr>
        <p:spPr>
          <a:xfrm>
            <a:off x="5606072" y="1150603"/>
            <a:ext cx="1574800" cy="1574800"/>
          </a:xfrm>
          <a:prstGeom prst="rect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84237D-DACA-4476-B9E5-70F6D0E21ABE}"/>
              </a:ext>
            </a:extLst>
          </p:cNvPr>
          <p:cNvSpPr/>
          <p:nvPr userDrawn="1"/>
        </p:nvSpPr>
        <p:spPr>
          <a:xfrm>
            <a:off x="7054846" y="4049286"/>
            <a:ext cx="1574800" cy="1574800"/>
          </a:xfrm>
          <a:prstGeom prst="rect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1E18E6-2C93-431D-B037-3D2D60EA81FD}"/>
              </a:ext>
            </a:extLst>
          </p:cNvPr>
          <p:cNvSpPr/>
          <p:nvPr userDrawn="1"/>
        </p:nvSpPr>
        <p:spPr>
          <a:xfrm>
            <a:off x="5987158" y="1702484"/>
            <a:ext cx="181392" cy="2545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Picture 19" descr="绿色的垃圾桶&#10;&#10;低可信度描述已自动生成">
            <a:extLst>
              <a:ext uri="{FF2B5EF4-FFF2-40B4-BE49-F238E27FC236}">
                <a16:creationId xmlns:a16="http://schemas.microsoft.com/office/drawing/2014/main" id="{9AFE019F-CFD3-4447-AA59-87D4AA791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49" t="21871" r="12629" b="17853"/>
          <a:stretch/>
        </p:blipFill>
        <p:spPr>
          <a:xfrm rot="5400000">
            <a:off x="6927600" y="632714"/>
            <a:ext cx="3754324" cy="54282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367CE5-26C1-4EDF-8D5B-46DEDCAA6C7E}"/>
              </a:ext>
            </a:extLst>
          </p:cNvPr>
          <p:cNvSpPr/>
          <p:nvPr userDrawn="1"/>
        </p:nvSpPr>
        <p:spPr>
          <a:xfrm>
            <a:off x="11058141" y="4750485"/>
            <a:ext cx="473529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E6FF3-E480-4C96-9DE0-054940E7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AEBE-086C-4980-A4E1-E89EE17EFFB9}" type="datetime1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DFAA1-D4C3-4306-A3AE-0641E3581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0EBE-EC20-4150-A2C6-9837F344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D20B772-8FB7-4FC3-BCD4-3BF157943F55}"/>
              </a:ext>
            </a:extLst>
          </p:cNvPr>
          <p:cNvGrpSpPr/>
          <p:nvPr userDrawn="1"/>
        </p:nvGrpSpPr>
        <p:grpSpPr>
          <a:xfrm>
            <a:off x="-1" y="0"/>
            <a:ext cx="12192003" cy="6858001"/>
            <a:chOff x="-54422" y="361950"/>
            <a:chExt cx="12192003" cy="6858001"/>
          </a:xfrm>
        </p:grpSpPr>
        <p:pic>
          <p:nvPicPr>
            <p:cNvPr id="13" name="Picture 12" descr="绿色的垃圾桶&#10;&#10;低可信度描述已自动生成">
              <a:extLst>
                <a:ext uri="{FF2B5EF4-FFF2-40B4-BE49-F238E27FC236}">
                  <a16:creationId xmlns:a16="http://schemas.microsoft.com/office/drawing/2014/main" id="{D0C95A8A-B2DB-42E2-9139-0784AF8C21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5" t="3761" r="3755" b="3761"/>
            <a:stretch/>
          </p:blipFill>
          <p:spPr>
            <a:xfrm rot="5400000">
              <a:off x="2612579" y="-2305051"/>
              <a:ext cx="6858001" cy="1219200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AD08A94-8F55-4DA6-9F91-923FD80B6F3B}"/>
                </a:ext>
              </a:extLst>
            </p:cNvPr>
            <p:cNvSpPr/>
            <p:nvPr userDrawn="1"/>
          </p:nvSpPr>
          <p:spPr>
            <a:xfrm>
              <a:off x="-54421" y="361950"/>
              <a:ext cx="12192000" cy="6858000"/>
            </a:xfrm>
            <a:prstGeom prst="rect">
              <a:avLst/>
            </a:prstGeom>
            <a:solidFill>
              <a:schemeClr val="bg2">
                <a:lumMod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977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00BC728-4D2B-4996-916E-A4B8A857798E}"/>
              </a:ext>
            </a:extLst>
          </p:cNvPr>
          <p:cNvGrpSpPr/>
          <p:nvPr userDrawn="1"/>
        </p:nvGrpSpPr>
        <p:grpSpPr>
          <a:xfrm>
            <a:off x="-1" y="0"/>
            <a:ext cx="12192003" cy="6858001"/>
            <a:chOff x="-54422" y="361950"/>
            <a:chExt cx="12192003" cy="6858001"/>
          </a:xfrm>
        </p:grpSpPr>
        <p:pic>
          <p:nvPicPr>
            <p:cNvPr id="8" name="Picture 7" descr="绿色的垃圾桶&#10;&#10;低可信度描述已自动生成">
              <a:extLst>
                <a:ext uri="{FF2B5EF4-FFF2-40B4-BE49-F238E27FC236}">
                  <a16:creationId xmlns:a16="http://schemas.microsoft.com/office/drawing/2014/main" id="{A32C3D3C-7F72-4E01-9650-D375C49175D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5" t="3761" r="3755" b="3761"/>
            <a:stretch/>
          </p:blipFill>
          <p:spPr>
            <a:xfrm rot="5400000">
              <a:off x="2612579" y="-2305051"/>
              <a:ext cx="6858001" cy="1219200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E3E3F6-31B2-4B8B-9C82-6860F7F7EBC1}"/>
                </a:ext>
              </a:extLst>
            </p:cNvPr>
            <p:cNvSpPr/>
            <p:nvPr userDrawn="1"/>
          </p:nvSpPr>
          <p:spPr>
            <a:xfrm>
              <a:off x="-54421" y="361950"/>
              <a:ext cx="12192000" cy="6858000"/>
            </a:xfrm>
            <a:prstGeom prst="rect">
              <a:avLst/>
            </a:prstGeom>
            <a:solidFill>
              <a:schemeClr val="bg2">
                <a:lumMod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0417" y="3170382"/>
            <a:ext cx="5731164" cy="951057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zh-CN" altLang="en-US" sz="16600"/>
            </a:lvl1pPr>
          </a:lstStyle>
          <a:p>
            <a:pPr lvl="0" defTabSz="914354"/>
            <a:r>
              <a:rPr lang="en-US" altLang="zh-CN" dirty="0"/>
              <a:t>O1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0417" y="4121439"/>
            <a:ext cx="5731164" cy="735157"/>
          </a:xfrm>
        </p:spPr>
        <p:txBody>
          <a:bodyPr>
            <a:normAutofit/>
          </a:bodyPr>
          <a:lstStyle>
            <a:lvl1pPr marL="0" indent="0" algn="ctr">
              <a:buNone/>
              <a:defRPr lang="en-US" altLang="zh-CN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79D9A-DC49-4C12-80D3-3D89C2783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4F10D-3A58-4285-A9DB-D9098A7BEDDD}" type="datetime1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F8C95-8814-4768-850F-851B6434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4C1D7-7C5A-49B3-9D05-119C615E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E8B3C54-6600-4917-9296-01C6F3B0150A}"/>
              </a:ext>
            </a:extLst>
          </p:cNvPr>
          <p:cNvGrpSpPr/>
          <p:nvPr userDrawn="1"/>
        </p:nvGrpSpPr>
        <p:grpSpPr>
          <a:xfrm>
            <a:off x="-1" y="0"/>
            <a:ext cx="12192003" cy="6858001"/>
            <a:chOff x="-54422" y="361950"/>
            <a:chExt cx="12192003" cy="6858001"/>
          </a:xfrm>
        </p:grpSpPr>
        <p:pic>
          <p:nvPicPr>
            <p:cNvPr id="7" name="Picture 6" descr="绿色的垃圾桶&#10;&#10;低可信度描述已自动生成">
              <a:extLst>
                <a:ext uri="{FF2B5EF4-FFF2-40B4-BE49-F238E27FC236}">
                  <a16:creationId xmlns:a16="http://schemas.microsoft.com/office/drawing/2014/main" id="{1DCE43D3-21BB-44F9-8BAC-1035E37A76F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5" t="3761" r="3755" b="3761"/>
            <a:stretch/>
          </p:blipFill>
          <p:spPr>
            <a:xfrm rot="5400000">
              <a:off x="2612579" y="-2305051"/>
              <a:ext cx="6858001" cy="1219200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6E32BE-6D7D-4AAA-BD3B-5740F9BD59EB}"/>
                </a:ext>
              </a:extLst>
            </p:cNvPr>
            <p:cNvSpPr/>
            <p:nvPr userDrawn="1"/>
          </p:nvSpPr>
          <p:spPr>
            <a:xfrm>
              <a:off x="-54421" y="361950"/>
              <a:ext cx="12192000" cy="6858000"/>
            </a:xfrm>
            <a:prstGeom prst="rect">
              <a:avLst/>
            </a:prstGeom>
            <a:solidFill>
              <a:schemeClr val="bg2">
                <a:lumMod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4619F-25D0-4307-81CD-C24C74EF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5987-9647-4253-899C-3B9819D6D8A0}" type="datetime1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2B25F-898B-4C1A-94A9-699B8B55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42F0A-76EB-4E77-8AF6-5F91F228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62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80E59B6-9190-4F55-9B2F-64A886AB7778}"/>
              </a:ext>
            </a:extLst>
          </p:cNvPr>
          <p:cNvGrpSpPr/>
          <p:nvPr userDrawn="1"/>
        </p:nvGrpSpPr>
        <p:grpSpPr>
          <a:xfrm>
            <a:off x="-1" y="0"/>
            <a:ext cx="12192003" cy="6858001"/>
            <a:chOff x="-54422" y="361950"/>
            <a:chExt cx="12192003" cy="6858001"/>
          </a:xfrm>
        </p:grpSpPr>
        <p:pic>
          <p:nvPicPr>
            <p:cNvPr id="6" name="Picture 5" descr="绿色的垃圾桶&#10;&#10;低可信度描述已自动生成">
              <a:extLst>
                <a:ext uri="{FF2B5EF4-FFF2-40B4-BE49-F238E27FC236}">
                  <a16:creationId xmlns:a16="http://schemas.microsoft.com/office/drawing/2014/main" id="{CEF899E5-3A20-4D0D-95D2-A81ECC82F05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5" t="3761" r="3755" b="3761"/>
            <a:stretch/>
          </p:blipFill>
          <p:spPr>
            <a:xfrm rot="5400000">
              <a:off x="2612579" y="-2305051"/>
              <a:ext cx="6858001" cy="1219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B54139-7B11-4590-9976-805C60E64928}"/>
                </a:ext>
              </a:extLst>
            </p:cNvPr>
            <p:cNvSpPr/>
            <p:nvPr userDrawn="1"/>
          </p:nvSpPr>
          <p:spPr>
            <a:xfrm>
              <a:off x="-54421" y="361950"/>
              <a:ext cx="12192000" cy="6858000"/>
            </a:xfrm>
            <a:prstGeom prst="rect">
              <a:avLst/>
            </a:prstGeom>
            <a:solidFill>
              <a:schemeClr val="bg2">
                <a:lumMod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8EA686E-9A62-41CB-8E6F-4747E10D0724}"/>
              </a:ext>
            </a:extLst>
          </p:cNvPr>
          <p:cNvSpPr/>
          <p:nvPr userDrawn="1"/>
        </p:nvSpPr>
        <p:spPr>
          <a:xfrm>
            <a:off x="-5376" y="1702485"/>
            <a:ext cx="665776" cy="6657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5B18E0-CD03-43DC-9A1F-751C59A1A694}"/>
              </a:ext>
            </a:extLst>
          </p:cNvPr>
          <p:cNvSpPr/>
          <p:nvPr userDrawn="1"/>
        </p:nvSpPr>
        <p:spPr>
          <a:xfrm>
            <a:off x="11220160" y="1702485"/>
            <a:ext cx="964516" cy="96451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575830-46E4-424C-BAEA-2233147B63F2}"/>
              </a:ext>
            </a:extLst>
          </p:cNvPr>
          <p:cNvSpPr/>
          <p:nvPr userDrawn="1"/>
        </p:nvSpPr>
        <p:spPr>
          <a:xfrm>
            <a:off x="5606072" y="1150603"/>
            <a:ext cx="1574800" cy="1574800"/>
          </a:xfrm>
          <a:prstGeom prst="rect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1CF573-18AD-4A6D-A847-AB7F34202974}"/>
              </a:ext>
            </a:extLst>
          </p:cNvPr>
          <p:cNvSpPr/>
          <p:nvPr userDrawn="1"/>
        </p:nvSpPr>
        <p:spPr>
          <a:xfrm>
            <a:off x="7054846" y="4049286"/>
            <a:ext cx="1574800" cy="1574800"/>
          </a:xfrm>
          <a:prstGeom prst="rect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68B8C-B4BE-45A3-84C5-2A07F0E5BA9B}"/>
              </a:ext>
            </a:extLst>
          </p:cNvPr>
          <p:cNvSpPr/>
          <p:nvPr userDrawn="1"/>
        </p:nvSpPr>
        <p:spPr>
          <a:xfrm>
            <a:off x="5987158" y="1702484"/>
            <a:ext cx="181392" cy="2545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15" descr="绿色的垃圾桶&#10;&#10;低可信度描述已自动生成">
            <a:extLst>
              <a:ext uri="{FF2B5EF4-FFF2-40B4-BE49-F238E27FC236}">
                <a16:creationId xmlns:a16="http://schemas.microsoft.com/office/drawing/2014/main" id="{D91F9C63-F6AA-41E3-B38A-E8A4ED1C55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49" t="21871" r="12629" b="17853"/>
          <a:stretch/>
        </p:blipFill>
        <p:spPr>
          <a:xfrm rot="5400000">
            <a:off x="6927600" y="632714"/>
            <a:ext cx="3754324" cy="542827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568761B-6BA3-49FA-BA2C-903B05B80DC9}"/>
              </a:ext>
            </a:extLst>
          </p:cNvPr>
          <p:cNvSpPr/>
          <p:nvPr userDrawn="1"/>
        </p:nvSpPr>
        <p:spPr>
          <a:xfrm>
            <a:off x="11058141" y="4750485"/>
            <a:ext cx="473529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737888"/>
            <a:ext cx="4945670" cy="1643062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altLang="zh-CN" sz="8800" b="1" smtClean="0"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354">
              <a:spcBef>
                <a:spcPct val="0"/>
              </a:spcBef>
            </a:pPr>
            <a:r>
              <a:rPr lang="en-US" altLang="zh-CN" dirty="0"/>
              <a:t>THANKS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428848-58C6-4501-8214-B803889F27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29646" y="6044609"/>
            <a:ext cx="2889254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EED25-4D2A-435D-A5F9-01DCC2F074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6044610"/>
            <a:ext cx="1913467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OfficePLUS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480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54"/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EBAC152-C384-4126-A41C-02F34DED3069}" type="datetime1">
              <a:rPr lang="zh-CN" altLang="en-US" smtClean="0"/>
              <a:t>2025/11/25</a:t>
            </a:fld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915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1" r:id="rId4"/>
    <p:sldLayoutId id="2147483654" r:id="rId5"/>
    <p:sldLayoutId id="2147483655" r:id="rId6"/>
    <p:sldLayoutId id="214748365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1D85B306-87FE-4B89-942B-E6BF225DF238}"/>
              </a:ext>
            </a:extLst>
          </p:cNvPr>
          <p:cNvSpPr txBox="1">
            <a:spLocks/>
          </p:cNvSpPr>
          <p:nvPr/>
        </p:nvSpPr>
        <p:spPr>
          <a:xfrm>
            <a:off x="4197350" y="3522629"/>
            <a:ext cx="7881937" cy="1692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84" indent="-228584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3300" dirty="0">
                <a:ln>
                  <a:solidFill>
                    <a:srgbClr val="FFFFFF">
                      <a:alpha val="25000"/>
                    </a:srgbClr>
                  </a:solidFill>
                </a:ln>
                <a:noFill/>
              </a:rPr>
              <a:t>Football </a:t>
            </a:r>
            <a:endParaRPr lang="en-US" sz="13300" dirty="0">
              <a:ln>
                <a:solidFill>
                  <a:srgbClr val="FFFFFF">
                    <a:alpha val="25000"/>
                  </a:srgbClr>
                </a:solidFill>
              </a:ln>
              <a:noFill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C2532AA-A647-48FF-8A25-36777AF5B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872" y="869081"/>
            <a:ext cx="4497933" cy="3188020"/>
          </a:xfrm>
        </p:spPr>
        <p:txBody>
          <a:bodyPr/>
          <a:lstStyle/>
          <a:p>
            <a:r>
              <a:rPr lang="en-US" altLang="zh-CN" dirty="0"/>
              <a:t>Predictive Model for English Premier League Match Outcomes</a:t>
            </a:r>
            <a:endParaRPr lang="zh-CN" alt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102F8CF-8DD3-43E5-B521-501A3CF12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527" y="4313288"/>
            <a:ext cx="3240168" cy="545815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Based on Team Historical Performance and Offensive/Defensive Data </a:t>
            </a:r>
            <a:endParaRPr lang="en-US" altLang="zh-CN" dirty="0">
              <a:sym typeface="Arial" panose="020B0604020202020204" pitchFamily="34" charset="0"/>
            </a:endParaRP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A50754C-0545-42FF-9848-F9BE2B752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30568" y="5795499"/>
            <a:ext cx="4701032" cy="532276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DSCI-510 Final Project        Frank Wu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B941149-F26B-4DA2-891D-7BC1D624B055}"/>
              </a:ext>
            </a:extLst>
          </p:cNvPr>
          <p:cNvCxnSpPr>
            <a:cxnSpLocks/>
          </p:cNvCxnSpPr>
          <p:nvPr/>
        </p:nvCxnSpPr>
        <p:spPr>
          <a:xfrm flipH="1">
            <a:off x="1046163" y="4185194"/>
            <a:ext cx="585787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CB48A5-9022-A4FE-3139-9A46A3D68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318" y="2559250"/>
            <a:ext cx="1346232" cy="134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42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902EB-B843-4E3B-8016-CF384D4F0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Sources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7C03E5-5EB8-43F9-8774-B82BC92E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7" name="Picture 6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E8CF4507-A668-6756-2726-B2E2970B4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33" y="1923972"/>
            <a:ext cx="9722350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8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833E-3159-3895-C8DD-70925C09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74CD-CE99-C3A8-8FAD-E42D96CD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3E4D8C-93C2-D588-0CB7-B45AB4F74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F5F9F-82F1-6DF2-FC81-3B20617DBD88}"/>
              </a:ext>
            </a:extLst>
          </p:cNvPr>
          <p:cNvSpPr txBox="1"/>
          <p:nvPr/>
        </p:nvSpPr>
        <p:spPr>
          <a:xfrm>
            <a:off x="660400" y="1543550"/>
            <a:ext cx="93451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FFFFFF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XGBoost (</a:t>
            </a:r>
            <a:r>
              <a:rPr lang="en-US" altLang="zh-CN" dirty="0" err="1"/>
              <a:t>eXtreme</a:t>
            </a:r>
            <a:r>
              <a:rPr lang="en-US" altLang="zh-CN" dirty="0"/>
              <a:t> Gradient Boosting)</a:t>
            </a:r>
          </a:p>
          <a:p>
            <a:pPr marL="342900" indent="-342900">
              <a:lnSpc>
                <a:spcPct val="200000"/>
              </a:lnSpc>
              <a:buClr>
                <a:srgbClr val="FFFFFF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A kind of Gradient Boosting Decision Tree (GBDT)</a:t>
            </a:r>
          </a:p>
          <a:p>
            <a:pPr marL="342900" indent="-342900">
              <a:lnSpc>
                <a:spcPct val="200000"/>
              </a:lnSpc>
              <a:buClr>
                <a:srgbClr val="FFFFFF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Performs well in tabular data</a:t>
            </a:r>
          </a:p>
          <a:p>
            <a:pPr marL="342900" indent="-342900">
              <a:lnSpc>
                <a:spcPct val="200000"/>
              </a:lnSpc>
              <a:buClr>
                <a:srgbClr val="FFFFFF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Handling missing data</a:t>
            </a:r>
          </a:p>
          <a:p>
            <a:pPr marL="342900" indent="-342900">
              <a:lnSpc>
                <a:spcPct val="200000"/>
              </a:lnSpc>
              <a:buClr>
                <a:srgbClr val="FFFFFF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Regularization to prevent overfitting for smaller datasets</a:t>
            </a:r>
          </a:p>
          <a:p>
            <a:pPr marL="342900" indent="-342900">
              <a:lnSpc>
                <a:spcPct val="200000"/>
              </a:lnSpc>
              <a:buClr>
                <a:srgbClr val="FFFFFF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Feature importance function</a:t>
            </a:r>
          </a:p>
          <a:p>
            <a:pPr marL="342900" indent="-342900">
              <a:lnSpc>
                <a:spcPct val="200000"/>
              </a:lnSpc>
              <a:buClr>
                <a:srgbClr val="FFFFFF"/>
              </a:buClr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Clr>
                <a:srgbClr val="FFFFFF"/>
              </a:buClr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5647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7FE1-C10C-C4FB-A759-36FF8424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F9B2-02C7-EF82-CFDC-C21E151A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5EB924-B56A-D81D-54B8-1B393C78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84FAA-42C9-81B0-165F-211D3ACAD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346" y="1295209"/>
            <a:ext cx="5852667" cy="439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4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4C7F4-3A07-5988-68B9-D4E4AFFC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D074-D2BA-703C-56DC-FEA138D1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22634C-E00B-1233-8EA4-C41FE799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482330E-822C-AEE8-C88F-FF4D5E17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710" y="1213029"/>
            <a:ext cx="8719194" cy="483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F4B77-DEB8-D169-64B0-30CC72EA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1573-C850-7C94-A698-51968D55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…but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5C6DF-1453-ECDA-D668-2F7BD25B6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C0C3293D-1E66-4F46-4CB5-F15C648E9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084" y="585953"/>
            <a:ext cx="6010619" cy="542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8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1AE12-C592-29AC-AF43-ABC2F40D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AA6F-0554-35BF-1667-5B905C2D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Potential Improvements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834A2-66AC-67E2-FBD2-648411B2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7A6B9-7E28-B6E2-5063-F33952EFF5D2}"/>
              </a:ext>
            </a:extLst>
          </p:cNvPr>
          <p:cNvSpPr txBox="1"/>
          <p:nvPr/>
        </p:nvSpPr>
        <p:spPr>
          <a:xfrm>
            <a:off x="795528" y="1426464"/>
            <a:ext cx="10003536" cy="1114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xG (expected goals)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ELO system?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6241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57331A-AA0C-5769-823E-71CFCCDC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511B590A-EA45-E188-CCD7-F919FCD04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503" y="825366"/>
            <a:ext cx="9588993" cy="520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7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52094-98C0-4141-A04B-98B9DF4DF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THANKS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6543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bd116479-b0e6-42da-bca5-09826e184a5a"/>
</p:tagLst>
</file>

<file path=ppt/theme/theme1.xml><?xml version="1.0" encoding="utf-8"?>
<a:theme xmlns:a="http://schemas.openxmlformats.org/drawingml/2006/main" name="Designed by iSlide">
  <a:themeElements>
    <a:clrScheme name="iSlide VI标准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FFF01"/>
      </a:accent1>
      <a:accent2>
        <a:srgbClr val="9DD12B"/>
      </a:accent2>
      <a:accent3>
        <a:srgbClr val="FF5121"/>
      </a:accent3>
      <a:accent4>
        <a:srgbClr val="FF6B42"/>
      </a:accent4>
      <a:accent5>
        <a:srgbClr val="FF5121"/>
      </a:accent5>
      <a:accent6>
        <a:srgbClr val="FF6B42"/>
      </a:accent6>
      <a:hlink>
        <a:srgbClr val="FFFFFF"/>
      </a:hlink>
      <a:folHlink>
        <a:srgbClr val="979797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Slide VI标准">
    <a:dk1>
      <a:srgbClr val="2F2F2F"/>
    </a:dk1>
    <a:lt1>
      <a:srgbClr val="FFFFFF"/>
    </a:lt1>
    <a:dk2>
      <a:srgbClr val="778495"/>
    </a:dk2>
    <a:lt2>
      <a:srgbClr val="F0F0F0"/>
    </a:lt2>
    <a:accent1>
      <a:srgbClr val="FFFF01"/>
    </a:accent1>
    <a:accent2>
      <a:srgbClr val="9DD12B"/>
    </a:accent2>
    <a:accent3>
      <a:srgbClr val="FF5121"/>
    </a:accent3>
    <a:accent4>
      <a:srgbClr val="FF6B42"/>
    </a:accent4>
    <a:accent5>
      <a:srgbClr val="FF5121"/>
    </a:accent5>
    <a:accent6>
      <a:srgbClr val="FF6B42"/>
    </a:accent6>
    <a:hlink>
      <a:srgbClr val="FFFFFF"/>
    </a:hlink>
    <a:folHlink>
      <a:srgbClr val="979797"/>
    </a:folHlink>
  </a:clrScheme>
</a:themeOverride>
</file>

<file path=ppt/theme/themeOverride2.xml><?xml version="1.0" encoding="utf-8"?>
<a:themeOverride xmlns:a="http://schemas.openxmlformats.org/drawingml/2006/main">
  <a:clrScheme name="iSlide VI标准">
    <a:dk1>
      <a:srgbClr val="2F2F2F"/>
    </a:dk1>
    <a:lt1>
      <a:srgbClr val="FFFFFF"/>
    </a:lt1>
    <a:dk2>
      <a:srgbClr val="778495"/>
    </a:dk2>
    <a:lt2>
      <a:srgbClr val="F0F0F0"/>
    </a:lt2>
    <a:accent1>
      <a:srgbClr val="FFFF01"/>
    </a:accent1>
    <a:accent2>
      <a:srgbClr val="9DD12B"/>
    </a:accent2>
    <a:accent3>
      <a:srgbClr val="FF5121"/>
    </a:accent3>
    <a:accent4>
      <a:srgbClr val="FF6B42"/>
    </a:accent4>
    <a:accent5>
      <a:srgbClr val="FF5121"/>
    </a:accent5>
    <a:accent6>
      <a:srgbClr val="FF6B42"/>
    </a:accent6>
    <a:hlink>
      <a:srgbClr val="FFFFFF"/>
    </a:hlink>
    <a:folHlink>
      <a:srgbClr val="9797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Duck</Template>
  <TotalTime>589</TotalTime>
  <Words>113</Words>
  <Application>Microsoft Office PowerPoint</Application>
  <PresentationFormat>Widescreen</PresentationFormat>
  <Paragraphs>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等线</vt:lpstr>
      <vt:lpstr>Arial</vt:lpstr>
      <vt:lpstr>Wingdings</vt:lpstr>
      <vt:lpstr>Designed by iSlide</vt:lpstr>
      <vt:lpstr>Predictive Model for English Premier League Match Outcomes</vt:lpstr>
      <vt:lpstr>Data Sources</vt:lpstr>
      <vt:lpstr>Methods</vt:lpstr>
      <vt:lpstr>Results</vt:lpstr>
      <vt:lpstr>Results</vt:lpstr>
      <vt:lpstr>…but</vt:lpstr>
      <vt:lpstr>Potential Improvements</vt:lpstr>
      <vt:lpstr>PowerPoint Presentation</vt:lpstr>
      <vt:lpstr>PowerPoint Presentation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Duck</dc:creator>
  <cp:lastModifiedBy>Yizhou Wu</cp:lastModifiedBy>
  <cp:revision>2</cp:revision>
  <cp:lastPrinted>2021-11-21T16:00:00Z</cp:lastPrinted>
  <dcterms:created xsi:type="dcterms:W3CDTF">2021-11-21T16:00:00Z</dcterms:created>
  <dcterms:modified xsi:type="dcterms:W3CDTF">2025-11-25T15:06:03Z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bd116479-b0e6-42da-bca5-09826e184a5a</vt:lpwstr>
  </property>
</Properties>
</file>